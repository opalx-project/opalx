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0" r:id="rId4"/>
    <p:sldId id="258" r:id="rId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2" d="100"/>
          <a:sy n="62" d="100"/>
        </p:scale>
        <p:origin x="157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3200" cy="43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314A0-8357-41C3-8735-483959F97754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10AABF-FF1D-4643-868D-F7B3283D7E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696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10AABF-FF1D-4643-868D-F7B3283D7E1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5156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CE9ABF-34D7-1A6C-AE54-D7AA518CC7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334388D-F9E3-AFAC-4BDC-C9F4DBA7B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796243-06B8-E8EC-E1A4-39EEBB3D6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2026/6/27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5F131C-1A91-F56A-B7C2-4800E367F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CDC0B6-2328-7628-7317-2B4BC6A2A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2E4E-3851-482D-ADC1-2B5DDC5AB2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5770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C4402-8CBE-DB3E-B8C7-D8785D7AD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6FEB4F4-6BDA-6DED-E7E1-426445FE1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05177E-90F7-942F-BC66-4A6332FAF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2026/6/27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787007-70CA-F604-6413-7E952C09F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938D02-CDD2-A950-1949-067B8F248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2E4E-3851-482D-ADC1-2B5DDC5AB2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3073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B96AA2-C4A0-8A48-306A-01C0BFFEE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0F5D6D-29DB-4BA4-D3F3-76E8DFF03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551BCC-FE94-D840-BBF2-84B921550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2026/6/27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D73A852-9580-C4F0-714E-4BA283EF9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F5915A-E329-EDC0-FCB6-ADFF2A4DB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2E4E-3851-482D-ADC1-2B5DDC5AB2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7488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C610F9-4E71-C8B1-8350-6E872BF2F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96F5ECA-7D13-F818-E7C1-3639C124B2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86CBDD2-8C88-4644-1539-E38C4F10C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C75950F-9BFD-AF65-8375-C87DDE51E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2026/6/27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A3D20A4-DBCF-5DB2-5AA5-2CD031DB5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3A5BC47-417B-1420-ABF4-16B355A42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2E4E-3851-482D-ADC1-2B5DDC5AB2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9139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956B85-DF67-00E5-762D-955493654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216A46C-9481-AA48-655E-07BFD8E2F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69BFDCF-A9C4-D005-E91E-2BAA7916F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60C2B79-6C9C-4BA7-EA08-28D0CEA14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D1FDDF0-2480-2B98-3A7B-A1287720CE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810791F-8123-4026-3749-1FC71BE7D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2026/6/27</a:t>
            </a:r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C1E50F8-8C2E-A4EB-B3B4-0586FE8D6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BFFCF13-82F0-5011-7A99-419F8FB0F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2E4E-3851-482D-ADC1-2B5DDC5AB2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7474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2A337C-C2CB-706F-7E5D-DAF3AA10E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B3F7ECD-4A7E-6D4E-7611-26F790A66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2026/6/27</a:t>
            </a:r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5574BC1-8379-6FE5-74FA-162650D4C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C36D996-D1E4-3206-3F68-A9A272C8A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2E4E-3851-482D-ADC1-2B5DDC5AB2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6433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D9B9CED-A996-CFD9-299E-DD6097F74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2026/6/27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9D3069A-1B69-25F6-CFDE-BE871C6C9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4D51179-1C7C-07DB-0789-670B5BC3A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2E4E-3851-482D-ADC1-2B5DDC5AB2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2307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1B387E-3908-E17D-E032-4D736D293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D256867-EFAA-1BC3-26F0-9989C6C1C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E752CFD-CC02-5E94-B2BA-9F991874C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E9E4F0-DD11-83B1-5094-85F646290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2026/6/27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38C259-6CB6-8DC7-6FC6-02C15CEA3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7794FB1-7EC7-756F-550E-742E1738D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2E4E-3851-482D-ADC1-2B5DDC5AB2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5173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C18986-F8DD-27B6-56A3-97ABFA52F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B1DCB5B-11D7-719F-8BF2-474C7654AA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0427BFD-1EDC-BEE4-2E44-FE02FC383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3086354-45ED-11AD-C4A2-ACA949F82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2026/6/27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BCE401B-FE44-06CC-1FAD-CD6292A94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E8393A5-AC4C-6F4B-1B38-C09C67A61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2E4E-3851-482D-ADC1-2B5DDC5AB2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8026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856C34-236F-7537-4E42-425FBAB6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DDF9171-E528-7B7A-6ECA-CFCBA4F94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689FC5-407F-81D5-B2F4-AFE6C8565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2026/6/27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403180-E69E-F42A-A281-837897F6B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CDEA2E-C6EB-8A21-EE9C-3512E9F3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2E4E-3851-482D-ADC1-2B5DDC5AB2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766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04824E7-E5C0-6C0A-71B6-B9E8E45490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0F0A6A2-9D8A-5A80-814F-C3D4CDAC5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5C9486-9E2E-7018-1E95-9CFDDB7DF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2026/6/27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580EC6-82A4-AFE6-15CC-C1F38174D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1E6B06-CBBA-82C8-E4A6-2FAB4B62C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2E4E-3851-482D-ADC1-2B5DDC5AB2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5372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91A3E6A-2BF1-9776-0FCE-4A5F43FB7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6C1AAC-42D1-86CE-AE0D-5B69D83C9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61F8D4-AFA7-6009-8C9D-3A70E1182A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kumimoji="1" lang="en-US" altLang="ja-JP"/>
              <a:t>2026/6/27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F20FCB-3936-7648-D1E0-413E2C0D97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C78A7A-4CBD-FFFE-4FCB-C00E9E3D56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2F2E4E-3851-482D-ADC1-2B5DDC5AB2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0876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29746F-D979-0403-0656-2EDD24609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17474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kumimoji="1" lang="en-US" altLang="ja-JP" dirty="0"/>
              <a:t>Parameters used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D16AB12-5720-1267-508E-45AFF0121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612" y="1398600"/>
            <a:ext cx="78867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ja-JP" dirty="0"/>
              <a:t>Electron energy			245.0	MeV</a:t>
            </a:r>
          </a:p>
          <a:p>
            <a:pPr marL="0" indent="0">
              <a:buNone/>
            </a:pPr>
            <a:r>
              <a:rPr lang="en-US" altLang="ja-JP" dirty="0"/>
              <a:t>Number of electrons 		1.250	10</a:t>
            </a:r>
            <a:r>
              <a:rPr lang="en-US" altLang="ja-JP" baseline="30000" dirty="0"/>
              <a:t>10</a:t>
            </a:r>
          </a:p>
          <a:p>
            <a:pPr marL="0" indent="0">
              <a:buNone/>
            </a:pPr>
            <a:r>
              <a:rPr lang="en-US" altLang="ja-JP" dirty="0"/>
              <a:t>Rms bunch length			0.600	mm</a:t>
            </a:r>
          </a:p>
          <a:p>
            <a:pPr marL="0" indent="0">
              <a:buNone/>
            </a:pPr>
            <a:r>
              <a:rPr lang="en-US" altLang="ja-JP" dirty="0"/>
              <a:t>Repetition frequency		100. 	Hz</a:t>
            </a:r>
          </a:p>
          <a:p>
            <a:pPr marL="0" indent="0">
              <a:buNone/>
            </a:pPr>
            <a:r>
              <a:rPr lang="en-US" altLang="ja-JP" dirty="0"/>
              <a:t>Normalized emittance		2.493 	</a:t>
            </a:r>
            <a:r>
              <a:rPr lang="en-US" altLang="ja-JP" dirty="0">
                <a:latin typeface="Symbol" panose="05050102010706020507" pitchFamily="18" charset="2"/>
              </a:rPr>
              <a:t>m</a:t>
            </a:r>
            <a:r>
              <a:rPr lang="en-US" altLang="ja-JP" dirty="0"/>
              <a:t>m</a:t>
            </a:r>
          </a:p>
          <a:p>
            <a:pPr marL="0" indent="0">
              <a:buNone/>
            </a:pPr>
            <a:r>
              <a:rPr lang="en-US" altLang="ja-JP" dirty="0"/>
              <a:t>Geometric emittance		5.200	nm</a:t>
            </a:r>
          </a:p>
          <a:p>
            <a:pPr marL="0" indent="0">
              <a:buNone/>
            </a:pPr>
            <a:r>
              <a:rPr lang="en-US" altLang="ja-JP" dirty="0"/>
              <a:t>Beta at IP				0.727	mm</a:t>
            </a:r>
          </a:p>
          <a:p>
            <a:pPr marL="0" indent="0">
              <a:buNone/>
            </a:pPr>
            <a:r>
              <a:rPr lang="en-US" altLang="ja-JP" dirty="0"/>
              <a:t>Rms </a:t>
            </a:r>
            <a:r>
              <a:rPr lang="en-US" altLang="ja-JP" dirty="0" err="1"/>
              <a:t>beamsize</a:t>
            </a:r>
            <a:r>
              <a:rPr lang="en-US" altLang="ja-JP" dirty="0"/>
              <a:t> at IP		1.94	</a:t>
            </a:r>
            <a:r>
              <a:rPr lang="en-US" altLang="ja-JP" dirty="0">
                <a:latin typeface="Symbol" panose="05050102010706020507" pitchFamily="18" charset="2"/>
              </a:rPr>
              <a:t>m</a:t>
            </a:r>
            <a:r>
              <a:rPr lang="en-US" altLang="ja-JP" dirty="0"/>
              <a:t>m</a:t>
            </a:r>
            <a:endParaRPr lang="en-US" altLang="ja-JP" dirty="0">
              <a:latin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ja-JP" dirty="0"/>
              <a:t>Disruption parameter		11.66</a:t>
            </a:r>
          </a:p>
          <a:p>
            <a:pPr marL="0" indent="0">
              <a:buNone/>
            </a:pPr>
            <a:r>
              <a:rPr lang="en-US" altLang="ja-JP" dirty="0"/>
              <a:t>Geometric ee luminosity		3.29E+28   1/cm2s</a:t>
            </a:r>
          </a:p>
          <a:p>
            <a:pPr marL="0" indent="0">
              <a:buNone/>
            </a:pPr>
            <a:r>
              <a:rPr lang="en-US" altLang="ja-JP" dirty="0"/>
              <a:t>Number of macro-particle	s	400000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B21DA9-EBE8-1C7A-486B-4425F97A1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2E4E-3851-482D-ADC1-2B5DDC5AB2E6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F80E6BB-160A-B853-25DA-2A8FA4E3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2026/6/27</a:t>
            </a:r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2E288E5-CBE8-DBA7-8A27-875253F3D196}"/>
              </a:ext>
            </a:extLst>
          </p:cNvPr>
          <p:cNvSpPr txBox="1"/>
          <p:nvPr/>
        </p:nvSpPr>
        <p:spPr>
          <a:xfrm>
            <a:off x="3146400" y="5810131"/>
            <a:ext cx="547155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/>
              <a:t>In the simulation the bunches have longitudinal Gaussian distribution cut at 3</a:t>
            </a:r>
            <a:r>
              <a:rPr lang="en-US" altLang="ja-JP" dirty="0">
                <a:latin typeface="Symbol" panose="05050102010706020507" pitchFamily="18" charset="2"/>
              </a:rPr>
              <a:t> </a:t>
            </a:r>
            <a:r>
              <a:rPr lang="en-US" altLang="ja-JP" dirty="0" err="1">
                <a:latin typeface="Symbol" panose="05050102010706020507" pitchFamily="18" charset="2"/>
              </a:rPr>
              <a:t>s</a:t>
            </a:r>
            <a:r>
              <a:rPr lang="en-US" altLang="ja-JP" baseline="-25000" dirty="0" err="1"/>
              <a:t>z</a:t>
            </a:r>
            <a:r>
              <a:rPr lang="en-US" altLang="ja-JP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6376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0A5006-0D96-AA84-267B-BC3DBD50B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31074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kumimoji="1" lang="en-US" altLang="ja-JP" dirty="0"/>
              <a:t>Test Particles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43C154E-129C-D6B9-FB6B-823DE1E7F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12201"/>
            <a:ext cx="7886700" cy="3931199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ja-JP" dirty="0"/>
              <a:t>Test particles are not the output of BW process. They are artificially put at appropriate timing during the simulation.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ja-JP" dirty="0"/>
              <a:t>12 t</a:t>
            </a:r>
            <a:r>
              <a:rPr kumimoji="1" lang="en-US" altLang="ja-JP" dirty="0"/>
              <a:t>est particles are inserted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kumimoji="1" lang="en-US" altLang="ja-JP" dirty="0"/>
              <a:t>6 </a:t>
            </a:r>
            <a:r>
              <a:rPr kumimoji="1" lang="en-US" altLang="ja-JP" dirty="0" err="1"/>
              <a:t>e+e</a:t>
            </a:r>
            <a:r>
              <a:rPr kumimoji="1" lang="en-US" altLang="ja-JP" dirty="0"/>
              <a:t>- pairs, right-going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kumimoji="1" lang="en-US" altLang="ja-JP" dirty="0"/>
              <a:t>With E=2m</a:t>
            </a:r>
            <a:r>
              <a:rPr kumimoji="1" lang="en-US" altLang="ja-JP" baseline="-25000" dirty="0"/>
              <a:t>e</a:t>
            </a:r>
            <a:r>
              <a:rPr kumimoji="1" lang="en-US" altLang="ja-JP" dirty="0"/>
              <a:t>, </a:t>
            </a:r>
            <a:r>
              <a:rPr lang="en-US" altLang="ja-JP" dirty="0"/>
              <a:t>x/</a:t>
            </a:r>
            <a:r>
              <a:rPr lang="en-US" altLang="ja-JP" dirty="0" err="1">
                <a:latin typeface="Symbol" panose="05050102010706020507" pitchFamily="18" charset="2"/>
              </a:rPr>
              <a:t>s</a:t>
            </a:r>
            <a:r>
              <a:rPr lang="en-US" altLang="ja-JP" baseline="-25000" dirty="0" err="1"/>
              <a:t>x</a:t>
            </a:r>
            <a:r>
              <a:rPr lang="en-US" altLang="ja-JP" dirty="0"/>
              <a:t> = 1.0,  x’=y=y’=0,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ja-JP" dirty="0"/>
              <a:t>z=0 (bunch center)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kumimoji="1" lang="en-US" altLang="ja-JP" dirty="0"/>
              <a:t>spin=(0,0,1)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ja-JP" dirty="0"/>
              <a:t>Timing at  t/</a:t>
            </a:r>
            <a:r>
              <a:rPr lang="en-US" altLang="ja-JP" dirty="0" err="1">
                <a:latin typeface="Symbol" panose="05050102010706020507" pitchFamily="18" charset="2"/>
              </a:rPr>
              <a:t>s</a:t>
            </a:r>
            <a:r>
              <a:rPr lang="en-US" altLang="ja-JP" baseline="-25000" dirty="0" err="1"/>
              <a:t>z</a:t>
            </a:r>
            <a:r>
              <a:rPr lang="en-US" altLang="ja-JP" dirty="0"/>
              <a:t> = -1.5, -1.0, -0.5, 0, 0.5, 1.0</a:t>
            </a:r>
          </a:p>
          <a:p>
            <a:pPr lvl="2"/>
            <a:r>
              <a:rPr lang="en-US" altLang="ja-JP" dirty="0"/>
              <a:t>Therefore, t/</a:t>
            </a:r>
            <a:r>
              <a:rPr lang="en-US" altLang="ja-JP" dirty="0" err="1">
                <a:latin typeface="Symbol" panose="05050102010706020507" pitchFamily="18" charset="2"/>
              </a:rPr>
              <a:t>s</a:t>
            </a:r>
            <a:r>
              <a:rPr lang="en-US" altLang="ja-JP" baseline="-25000" dirty="0" err="1"/>
              <a:t>z</a:t>
            </a:r>
            <a:r>
              <a:rPr lang="en-US" altLang="ja-JP" dirty="0"/>
              <a:t> = -1.5 means the moment the test particle touches on-coming bunch edge</a:t>
            </a:r>
          </a:p>
          <a:p>
            <a:pPr lvl="1"/>
            <a:endParaRPr kumimoji="1" lang="ja-JP" altLang="en-US" dirty="0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CE511930-690A-5E22-D655-4AD419056270}"/>
              </a:ext>
            </a:extLst>
          </p:cNvPr>
          <p:cNvGrpSpPr/>
          <p:nvPr/>
        </p:nvGrpSpPr>
        <p:grpSpPr>
          <a:xfrm>
            <a:off x="1461601" y="4984200"/>
            <a:ext cx="6739199" cy="1873800"/>
            <a:chOff x="1461601" y="4984200"/>
            <a:chExt cx="6739199" cy="1873800"/>
          </a:xfrm>
        </p:grpSpPr>
        <p:sp>
          <p:nvSpPr>
            <p:cNvPr id="4" name="楕円 3">
              <a:extLst>
                <a:ext uri="{FF2B5EF4-FFF2-40B4-BE49-F238E27FC236}">
                  <a16:creationId xmlns:a16="http://schemas.microsoft.com/office/drawing/2014/main" id="{44BFF3EF-7523-C72F-7900-8C1CE5213182}"/>
                </a:ext>
              </a:extLst>
            </p:cNvPr>
            <p:cNvSpPr/>
            <p:nvPr/>
          </p:nvSpPr>
          <p:spPr>
            <a:xfrm>
              <a:off x="1461601" y="5691211"/>
              <a:ext cx="4276799" cy="73107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楕円 4">
              <a:extLst>
                <a:ext uri="{FF2B5EF4-FFF2-40B4-BE49-F238E27FC236}">
                  <a16:creationId xmlns:a16="http://schemas.microsoft.com/office/drawing/2014/main" id="{D3168771-8D4F-6E98-5884-7A982E6DA2BF}"/>
                </a:ext>
              </a:extLst>
            </p:cNvPr>
            <p:cNvSpPr/>
            <p:nvPr/>
          </p:nvSpPr>
          <p:spPr>
            <a:xfrm>
              <a:off x="3492000" y="5673463"/>
              <a:ext cx="4708800" cy="731074"/>
            </a:xfrm>
            <a:prstGeom prst="ellipse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楕円 5">
              <a:extLst>
                <a:ext uri="{FF2B5EF4-FFF2-40B4-BE49-F238E27FC236}">
                  <a16:creationId xmlns:a16="http://schemas.microsoft.com/office/drawing/2014/main" id="{01439E4F-D551-5244-F0D8-A8AA44388E14}"/>
                </a:ext>
              </a:extLst>
            </p:cNvPr>
            <p:cNvSpPr/>
            <p:nvPr/>
          </p:nvSpPr>
          <p:spPr>
            <a:xfrm>
              <a:off x="3362400" y="5970600"/>
              <a:ext cx="136800" cy="1368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F2C97C63-C691-39D4-7F5A-6E990FF172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9200" y="5416200"/>
              <a:ext cx="1072800" cy="2160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BE186492-531D-D941-20CE-0B2F6EFF89FB}"/>
                </a:ext>
              </a:extLst>
            </p:cNvPr>
            <p:cNvCxnSpPr/>
            <p:nvPr/>
          </p:nvCxnSpPr>
          <p:spPr>
            <a:xfrm>
              <a:off x="4572000" y="4984200"/>
              <a:ext cx="0" cy="187380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4539F5A1-275D-1AD1-BB82-A6ABAAF8DF78}"/>
                </a:ext>
              </a:extLst>
            </p:cNvPr>
            <p:cNvSpPr txBox="1"/>
            <p:nvPr/>
          </p:nvSpPr>
          <p:spPr>
            <a:xfrm>
              <a:off x="3821449" y="5037693"/>
              <a:ext cx="11663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dirty="0"/>
                <a:t>1.5</a:t>
              </a:r>
              <a:r>
                <a:rPr kumimoji="1" lang="en-US" altLang="ja-JP" sz="2000" dirty="0">
                  <a:latin typeface="Symbol" panose="05050102010706020507" pitchFamily="18" charset="2"/>
                </a:rPr>
                <a:t>s</a:t>
              </a:r>
              <a:r>
                <a:rPr kumimoji="1" lang="en-US" altLang="ja-JP" sz="2000" baseline="-25000" dirty="0"/>
                <a:t>z</a:t>
              </a:r>
              <a:endParaRPr kumimoji="1" lang="ja-JP" altLang="en-US" sz="2000" baseline="-25000" dirty="0"/>
            </a:p>
          </p:txBody>
        </p:sp>
      </p:grpSp>
      <p:sp>
        <p:nvSpPr>
          <p:cNvPr id="14" name="スライド番号プレースホルダー 13">
            <a:extLst>
              <a:ext uri="{FF2B5EF4-FFF2-40B4-BE49-F238E27FC236}">
                <a16:creationId xmlns:a16="http://schemas.microsoft.com/office/drawing/2014/main" id="{16E6FE45-0D31-9B55-79FB-81B16CCB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2E4E-3851-482D-ADC1-2B5DDC5AB2E6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17DF6D9-FBB8-E6C7-1BD7-A104141F0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2026/6/27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6039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B013A6-AE5C-8F13-78E2-0BCEE9AC5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10E5CD0-CBD7-E349-7209-2B5324791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2026/6/27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6F116CD-F22E-A18C-B601-89C5E84B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2E4E-3851-482D-ADC1-2B5DDC5AB2E6}" type="slidenum">
              <a:rPr kumimoji="1" lang="ja-JP" altLang="en-US" smtClean="0"/>
              <a:t>3</a:t>
            </a:fld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A07C929-200B-1E4C-990C-2F284AC529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0" y="136524"/>
            <a:ext cx="8039796" cy="6858000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FB2843A-EE34-41AF-4E0D-D768EDECC946}"/>
              </a:ext>
            </a:extLst>
          </p:cNvPr>
          <p:cNvSpPr txBox="1"/>
          <p:nvPr/>
        </p:nvSpPr>
        <p:spPr>
          <a:xfrm>
            <a:off x="1657350" y="5286600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Red: electron</a:t>
            </a:r>
          </a:p>
          <a:p>
            <a:r>
              <a:rPr lang="en-US" altLang="ja-JP" dirty="0"/>
              <a:t>Blue: positron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0605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84465F-8FCA-8B80-3DC7-96ABBDB2A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60674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altLang="ja-JP" dirty="0"/>
              <a:t>File</a:t>
            </a:r>
            <a:r>
              <a:rPr kumimoji="1" lang="en-US" altLang="ja-JP" dirty="0"/>
              <a:t> Format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E3B1D5-18DE-1438-5E01-9C1577046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8200"/>
            <a:ext cx="7886700" cy="459872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ja-JP" dirty="0"/>
              <a:t>File name = TestParticleOrbit.dat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ja-JP" dirty="0"/>
              <a:t>The first line is like</a:t>
            </a:r>
          </a:p>
          <a:p>
            <a:pPr marL="0" indent="0">
              <a:buNone/>
            </a:pPr>
            <a:r>
              <a:rPr lang="en-US" altLang="ja-JP" dirty="0"/>
              <a:t>      </a:t>
            </a:r>
            <a:r>
              <a:rPr lang="en-US" altLang="ja-JP" sz="2400" dirty="0"/>
              <a:t>----- Test particle Te-1 KIND=2 -----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ja-JP" sz="2000" dirty="0"/>
              <a:t>‘Te-1’ is the name of test particle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ja-JP" sz="2000" dirty="0"/>
              <a:t>KIND =  2 (e-), 3 (e+). This number is at  31</a:t>
            </a:r>
            <a:r>
              <a:rPr lang="en-US" altLang="ja-JP" sz="2000" baseline="30000" dirty="0"/>
              <a:t>st</a:t>
            </a:r>
            <a:r>
              <a:rPr lang="en-US" altLang="ja-JP" sz="2000" dirty="0"/>
              <a:t> column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ja-JP" sz="2400" dirty="0"/>
              <a:t>D</a:t>
            </a:r>
            <a:r>
              <a:rPr kumimoji="1" lang="en-US" altLang="ja-JP" sz="2400" dirty="0"/>
              <a:t>ata lines follow. Each line consists of 11 numbers</a:t>
            </a:r>
          </a:p>
          <a:p>
            <a:pPr marL="0" indent="0">
              <a:buNone/>
            </a:pPr>
            <a:r>
              <a:rPr lang="en-US" altLang="ja-JP" sz="2400" dirty="0"/>
              <a:t>	t, x, y, s  	 in meter</a:t>
            </a:r>
          </a:p>
          <a:p>
            <a:pPr marL="0" indent="0">
              <a:buNone/>
            </a:pPr>
            <a:r>
              <a:rPr lang="en-US" altLang="ja-JP" sz="2400" dirty="0"/>
              <a:t>	E, </a:t>
            </a:r>
            <a:r>
              <a:rPr lang="en-US" altLang="ja-JP" sz="2400" dirty="0" err="1"/>
              <a:t>Px</a:t>
            </a:r>
            <a:r>
              <a:rPr lang="en-US" altLang="ja-JP" sz="2400" dirty="0"/>
              <a:t>, Py, Ps	 in eV or eV/c</a:t>
            </a:r>
          </a:p>
          <a:p>
            <a:pPr marL="0" indent="0">
              <a:buNone/>
            </a:pPr>
            <a:r>
              <a:rPr lang="en-US" altLang="ja-JP" sz="2400" dirty="0"/>
              <a:t>	</a:t>
            </a:r>
            <a:r>
              <a:rPr lang="en-US" altLang="ja-JP" sz="2400" dirty="0" err="1"/>
              <a:t>Sx</a:t>
            </a:r>
            <a:r>
              <a:rPr lang="en-US" altLang="ja-JP" sz="2400" dirty="0"/>
              <a:t>, Sy, Ss	 spin component</a:t>
            </a:r>
            <a:endParaRPr kumimoji="1" lang="en-US" altLang="ja-JP" sz="2400" dirty="0"/>
          </a:p>
          <a:p>
            <a:pPr marL="0" indent="0">
              <a:buNone/>
            </a:pPr>
            <a:r>
              <a:rPr kumimoji="1" lang="en-US" altLang="ja-JP" sz="2400" dirty="0"/>
              <a:t>     </a:t>
            </a:r>
            <a:endParaRPr kumimoji="1" lang="ja-JP" altLang="en-US" sz="24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3783EBD-DD71-02D7-66A8-54336323D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2E4E-3851-482D-ADC1-2B5DDC5AB2E6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A8AE49C-BA66-8830-1290-1CB21BDC0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2026/6/27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1235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319</Words>
  <Application>Microsoft Office PowerPoint</Application>
  <PresentationFormat>画面に合わせる (4:3)</PresentationFormat>
  <Paragraphs>45</Paragraphs>
  <Slides>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游ゴシック</vt:lpstr>
      <vt:lpstr>游ゴシック Light</vt:lpstr>
      <vt:lpstr>Arial</vt:lpstr>
      <vt:lpstr>Symbol</vt:lpstr>
      <vt:lpstr>Wingdings</vt:lpstr>
      <vt:lpstr>Office テーマ</vt:lpstr>
      <vt:lpstr>Parameters used</vt:lpstr>
      <vt:lpstr>Test Particles</vt:lpstr>
      <vt:lpstr>PowerPoint プレゼンテーション</vt:lpstr>
      <vt:lpstr>File Format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Kaoru Yokoya</dc:creator>
  <cp:lastModifiedBy>Kaoru Yokoya</cp:lastModifiedBy>
  <cp:revision>3</cp:revision>
  <dcterms:created xsi:type="dcterms:W3CDTF">2026-06-27T04:53:24Z</dcterms:created>
  <dcterms:modified xsi:type="dcterms:W3CDTF">2026-06-27T05:57:26Z</dcterms:modified>
</cp:coreProperties>
</file>